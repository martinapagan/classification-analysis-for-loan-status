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"/>
  </p:notes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5" userDrawn="1">
          <p15:clr>
            <a:srgbClr val="A4A3A4"/>
          </p15:clr>
        </p15:guide>
        <p15:guide id="2" pos="67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33" autoAdjust="0"/>
    <p:restoredTop sz="94660"/>
  </p:normalViewPr>
  <p:slideViewPr>
    <p:cSldViewPr snapToGrid="0">
      <p:cViewPr varScale="1">
        <p:scale>
          <a:sx n="18" d="100"/>
          <a:sy n="18" d="100"/>
        </p:scale>
        <p:origin x="2261" y="133"/>
      </p:cViewPr>
      <p:guideLst>
        <p:guide orient="horz" pos="9535"/>
        <p:guide pos="67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69E437-017C-4B5B-A33C-F78568762343}" type="datetimeFigureOut">
              <a:rPr lang="en-GB" smtClean="0"/>
              <a:t>18/06/2024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231F1-DE8E-4DDD-B038-3C73C471A8AC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418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54FF2-268C-41EA-A1E0-10E3549FC940}" type="datetimeFigureOut">
              <a:rPr lang="en-GB" smtClean="0"/>
              <a:t>18/06/2024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579DE-0D6D-4C81-818B-AA19C470D07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7341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54FF2-268C-41EA-A1E0-10E3549FC940}" type="datetimeFigureOut">
              <a:rPr lang="en-GB" smtClean="0"/>
              <a:t>18/06/2024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579DE-0D6D-4C81-818B-AA19C470D07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6032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/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54FF2-268C-41EA-A1E0-10E3549FC940}" type="datetimeFigureOut">
              <a:rPr lang="en-GB" smtClean="0"/>
              <a:t>18/06/2024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579DE-0D6D-4C81-818B-AA19C470D07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2999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54FF2-268C-41EA-A1E0-10E3549FC940}" type="datetimeFigureOut">
              <a:rPr lang="en-GB" smtClean="0"/>
              <a:t>18/06/2024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579DE-0D6D-4C81-818B-AA19C470D07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603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54FF2-268C-41EA-A1E0-10E3549FC940}" type="datetimeFigureOut">
              <a:rPr lang="en-GB" smtClean="0"/>
              <a:t>18/06/2024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579DE-0D6D-4C81-818B-AA19C470D07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2907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54FF2-268C-41EA-A1E0-10E3549FC940}" type="datetimeFigureOut">
              <a:rPr lang="en-GB" smtClean="0"/>
              <a:t>18/06/2024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579DE-0D6D-4C81-818B-AA19C470D07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9614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54FF2-268C-41EA-A1E0-10E3549FC940}" type="datetimeFigureOut">
              <a:rPr lang="en-GB" smtClean="0"/>
              <a:t>18/06/2024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579DE-0D6D-4C81-818B-AA19C470D07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906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54FF2-268C-41EA-A1E0-10E3549FC940}" type="datetimeFigureOut">
              <a:rPr lang="en-GB" smtClean="0"/>
              <a:t>18/06/2024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579DE-0D6D-4C81-818B-AA19C470D07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31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54FF2-268C-41EA-A1E0-10E3549FC940}" type="datetimeFigureOut">
              <a:rPr lang="en-GB" smtClean="0"/>
              <a:t>18/06/2024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579DE-0D6D-4C81-818B-AA19C470D07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0830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54FF2-268C-41EA-A1E0-10E3549FC940}" type="datetimeFigureOut">
              <a:rPr lang="en-GB" smtClean="0"/>
              <a:t>18/06/2024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579DE-0D6D-4C81-818B-AA19C470D07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4217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54FF2-268C-41EA-A1E0-10E3549FC940}" type="datetimeFigureOut">
              <a:rPr lang="en-GB" smtClean="0"/>
              <a:t>18/06/2024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579DE-0D6D-4C81-818B-AA19C470D07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298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54FF2-268C-41EA-A1E0-10E3549FC940}" type="datetimeFigureOut">
              <a:rPr lang="en-GB" smtClean="0"/>
              <a:t>18/06/2024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579DE-0D6D-4C81-818B-AA19C470D07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828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8" Type="http://schemas.openxmlformats.org/officeDocument/2006/relationships/image" Target="../media/image17.png"/><Relationship Id="rId26" Type="http://schemas.openxmlformats.org/officeDocument/2006/relationships/image" Target="../media/image22.png"/><Relationship Id="rId3" Type="http://schemas.openxmlformats.org/officeDocument/2006/relationships/image" Target="../media/image2.png"/><Relationship Id="rId21" Type="http://schemas.openxmlformats.org/officeDocument/2006/relationships/image" Target="../media/image11.png"/><Relationship Id="rId7" Type="http://schemas.openxmlformats.org/officeDocument/2006/relationships/image" Target="../media/image6.png"/><Relationship Id="rId17" Type="http://schemas.openxmlformats.org/officeDocument/2006/relationships/image" Target="../media/image16.png"/><Relationship Id="rId25" Type="http://schemas.openxmlformats.org/officeDocument/2006/relationships/image" Target="../media/image2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24" Type="http://schemas.openxmlformats.org/officeDocument/2006/relationships/image" Target="../media/image2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19.png"/><Relationship Id="rId28" Type="http://schemas.openxmlformats.org/officeDocument/2006/relationships/image" Target="../media/image2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12.png"/><Relationship Id="rId27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magine 22" descr="Immagine che contiene testo, linea, schermata, diagramma&#10;&#10;Descrizione generata automaticamente">
            <a:extLst>
              <a:ext uri="{FF2B5EF4-FFF2-40B4-BE49-F238E27FC236}">
                <a16:creationId xmlns:a16="http://schemas.microsoft.com/office/drawing/2014/main" id="{AA35F4FF-A6E3-61EB-A66B-49EEA017FF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7" r="1466" b="1650"/>
          <a:stretch/>
        </p:blipFill>
        <p:spPr>
          <a:xfrm>
            <a:off x="666944" y="20223482"/>
            <a:ext cx="7135200" cy="4555675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E949A4FA-2160-17F8-18EF-DA0AA219CC05}"/>
              </a:ext>
            </a:extLst>
          </p:cNvPr>
          <p:cNvSpPr/>
          <p:nvPr/>
        </p:nvSpPr>
        <p:spPr>
          <a:xfrm>
            <a:off x="1" y="7"/>
            <a:ext cx="21383624" cy="190458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7335" b="1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8000" b="1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GDP per capita: the impact of CPI</a:t>
            </a:r>
          </a:p>
        </p:txBody>
      </p:sp>
      <p:pic>
        <p:nvPicPr>
          <p:cNvPr id="8" name="Immagine 7" descr="Immagine che contiene testo, schermata, diagramma&#10;&#10;Descrizione generata automaticamente">
            <a:extLst>
              <a:ext uri="{FF2B5EF4-FFF2-40B4-BE49-F238E27FC236}">
                <a16:creationId xmlns:a16="http://schemas.microsoft.com/office/drawing/2014/main" id="{22A2D525-A69D-D4A4-7D32-86C78221A521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4" r="13572"/>
          <a:stretch/>
        </p:blipFill>
        <p:spPr>
          <a:xfrm>
            <a:off x="14910955" y="4659574"/>
            <a:ext cx="4185237" cy="2969731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6ADDC4B-7B36-761F-6A8E-AA58A47A6765}"/>
              </a:ext>
            </a:extLst>
          </p:cNvPr>
          <p:cNvSpPr txBox="1"/>
          <p:nvPr/>
        </p:nvSpPr>
        <p:spPr>
          <a:xfrm>
            <a:off x="9142097" y="3813919"/>
            <a:ext cx="53751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CONTINENTS </a:t>
            </a:r>
            <a:r>
              <a:rPr lang="it-IT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COVERAGE</a:t>
            </a:r>
            <a:endParaRPr lang="en-GB" sz="3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EC930CE0-6084-9D40-BE25-C31C99171389}"/>
              </a:ext>
            </a:extLst>
          </p:cNvPr>
          <p:cNvSpPr txBox="1"/>
          <p:nvPr/>
        </p:nvSpPr>
        <p:spPr>
          <a:xfrm>
            <a:off x="15083874" y="3814646"/>
            <a:ext cx="56114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OF GDP PER CAPITA</a:t>
            </a:r>
            <a:endParaRPr lang="en-GB" sz="3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Home page IT | UNIBS">
            <a:extLst>
              <a:ext uri="{FF2B5EF4-FFF2-40B4-BE49-F238E27FC236}">
                <a16:creationId xmlns:a16="http://schemas.microsoft.com/office/drawing/2014/main" id="{BA642D46-DB2F-FD38-B0AE-7BB5E45582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310"/>
          <a:stretch/>
        </p:blipFill>
        <p:spPr bwMode="auto">
          <a:xfrm>
            <a:off x="19330540" y="89322"/>
            <a:ext cx="1707304" cy="172595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3" name="CasellaDiTesto 1062">
            <a:extLst>
              <a:ext uri="{FF2B5EF4-FFF2-40B4-BE49-F238E27FC236}">
                <a16:creationId xmlns:a16="http://schemas.microsoft.com/office/drawing/2014/main" id="{6CA38655-B62B-069E-7B58-C83C46BED20B}"/>
              </a:ext>
            </a:extLst>
          </p:cNvPr>
          <p:cNvSpPr txBox="1"/>
          <p:nvPr/>
        </p:nvSpPr>
        <p:spPr>
          <a:xfrm>
            <a:off x="7619714" y="11973953"/>
            <a:ext cx="61441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6000" b="1" dirty="0">
                <a:solidFill>
                  <a:schemeClr val="accent1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IMPACT OF </a:t>
            </a:r>
            <a:r>
              <a:rPr lang="it-IT" sz="6000" b="1" dirty="0" err="1">
                <a:solidFill>
                  <a:schemeClr val="accent1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CPI</a:t>
            </a:r>
            <a:endParaRPr lang="en-GB" sz="6000" b="1" dirty="0">
              <a:solidFill>
                <a:schemeClr val="accent1">
                  <a:lumMod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65" name="Immagine 1064" descr="Immagine che contiene testo, schermata, linea, diagramma&#10;&#10;Descrizione generata automaticamente">
            <a:extLst>
              <a:ext uri="{FF2B5EF4-FFF2-40B4-BE49-F238E27FC236}">
                <a16:creationId xmlns:a16="http://schemas.microsoft.com/office/drawing/2014/main" id="{1FEE0E5E-97E2-21D1-5AC5-85404AB5CFA6}"/>
              </a:ext>
            </a:extLst>
          </p:cNvPr>
          <p:cNvPicPr>
            <a:picLocks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44" r="4577" b="2370"/>
          <a:stretch/>
        </p:blipFill>
        <p:spPr>
          <a:xfrm>
            <a:off x="666944" y="12913517"/>
            <a:ext cx="7136469" cy="4387608"/>
          </a:xfrm>
          <a:prstGeom prst="rect">
            <a:avLst/>
          </a:prstGeom>
        </p:spPr>
      </p:pic>
      <p:sp>
        <p:nvSpPr>
          <p:cNvPr id="1066" name="CasellaDiTesto 1065">
            <a:extLst>
              <a:ext uri="{FF2B5EF4-FFF2-40B4-BE49-F238E27FC236}">
                <a16:creationId xmlns:a16="http://schemas.microsoft.com/office/drawing/2014/main" id="{820C752A-4B30-C8F8-58CE-1900DB385DBF}"/>
              </a:ext>
            </a:extLst>
          </p:cNvPr>
          <p:cNvSpPr txBox="1"/>
          <p:nvPr/>
        </p:nvSpPr>
        <p:spPr>
          <a:xfrm>
            <a:off x="8416917" y="8490633"/>
            <a:ext cx="4084181" cy="35394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left graph suggests that interaction terms are needed.</a:t>
            </a:r>
          </a:p>
          <a:p>
            <a:pPr algn="just"/>
            <a:r>
              <a:rPr lang="en-GB" sz="2800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right plot is </a:t>
            </a:r>
            <a:r>
              <a:rPr lang="en-GB" sz="28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</a:t>
            </a:r>
            <a:r>
              <a:rPr lang="en-GB" sz="2800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tained by applying the log transformation of Y</a:t>
            </a:r>
            <a:r>
              <a:rPr lang="en-GB" sz="28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that makes the residual homoscedastic.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68" name="Immagine 1067" descr="Immagine che contiene testo, schermata, linea, diagramma&#10;&#10;Descrizione generata automaticamente">
            <a:extLst>
              <a:ext uri="{FF2B5EF4-FFF2-40B4-BE49-F238E27FC236}">
                <a16:creationId xmlns:a16="http://schemas.microsoft.com/office/drawing/2014/main" id="{5A37E900-CBD2-21A9-B93A-F804270AC77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68" r="4432" b="2716"/>
          <a:stretch/>
        </p:blipFill>
        <p:spPr>
          <a:xfrm>
            <a:off x="13667566" y="16541873"/>
            <a:ext cx="7136469" cy="4388400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209D010E-7187-EAC8-1121-69E867EE9F5E}"/>
              </a:ext>
            </a:extLst>
          </p:cNvPr>
          <p:cNvSpPr/>
          <p:nvPr/>
        </p:nvSpPr>
        <p:spPr>
          <a:xfrm>
            <a:off x="0" y="29232991"/>
            <a:ext cx="21383624" cy="103163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7335" b="1" dirty="0"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Segnaposto contenuto 4" descr="Immagine che contiene mappa, testo, atlante&#10;&#10;Descrizione generata automaticamente">
            <a:extLst>
              <a:ext uri="{FF2B5EF4-FFF2-40B4-BE49-F238E27FC236}">
                <a16:creationId xmlns:a16="http://schemas.microsoft.com/office/drawing/2014/main" id="{95087382-2579-87E0-2919-C4F281721F0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66"/>
          <a:stretch/>
        </p:blipFill>
        <p:spPr>
          <a:xfrm>
            <a:off x="246652" y="2656459"/>
            <a:ext cx="8766797" cy="489545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DBD62E8D-17FC-06A6-F512-3D24506CE29C}"/>
              </a:ext>
            </a:extLst>
          </p:cNvPr>
          <p:cNvSpPr txBox="1"/>
          <p:nvPr/>
        </p:nvSpPr>
        <p:spPr>
          <a:xfrm>
            <a:off x="8474875" y="2027316"/>
            <a:ext cx="12611961" cy="16927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is based on the </a:t>
            </a:r>
            <a:r>
              <a:rPr lang="en-GB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GDP per capita in the world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world there are </a:t>
            </a:r>
            <a:r>
              <a:rPr lang="en-GB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six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continents that have a different coverage.</a:t>
            </a:r>
          </a:p>
          <a:p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word map show us that the impact of the GDP per capita do not entirely depends on the dimension of the continent. 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EB94417-5E39-2FF9-B8B2-BD003782AED4}"/>
              </a:ext>
            </a:extLst>
          </p:cNvPr>
          <p:cNvSpPr txBox="1"/>
          <p:nvPr/>
        </p:nvSpPr>
        <p:spPr>
          <a:xfrm>
            <a:off x="2661036" y="1905570"/>
            <a:ext cx="31470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WORLD MAP</a:t>
            </a:r>
          </a:p>
        </p:txBody>
      </p:sp>
      <p:pic>
        <p:nvPicPr>
          <p:cNvPr id="16" name="Immagine 15" descr="Immagine che contiene testo, diagramma, Diagramma, linea&#10;&#10;Descrizione generata automaticamente">
            <a:extLst>
              <a:ext uri="{FF2B5EF4-FFF2-40B4-BE49-F238E27FC236}">
                <a16:creationId xmlns:a16="http://schemas.microsoft.com/office/drawing/2014/main" id="{20C086FB-6937-45B8-AAF7-0829A1BB478A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7"/>
          <a:stretch/>
        </p:blipFill>
        <p:spPr>
          <a:xfrm>
            <a:off x="2458193" y="8459121"/>
            <a:ext cx="5603868" cy="3570942"/>
          </a:xfrm>
          <a:prstGeom prst="rect">
            <a:avLst/>
          </a:prstGeom>
        </p:spPr>
      </p:pic>
      <p:pic>
        <p:nvPicPr>
          <p:cNvPr id="26" name="Immagine 25" descr="Immagine che contiene testo, diagramma, linea, mappa&#10;&#10;Descrizione generata automaticamente">
            <a:extLst>
              <a:ext uri="{FF2B5EF4-FFF2-40B4-BE49-F238E27FC236}">
                <a16:creationId xmlns:a16="http://schemas.microsoft.com/office/drawing/2014/main" id="{EF9256F6-ECC7-4C4E-8085-22CEA2FECCEB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23" r="4669"/>
          <a:stretch/>
        </p:blipFill>
        <p:spPr>
          <a:xfrm>
            <a:off x="12855954" y="8459119"/>
            <a:ext cx="6088902" cy="3742872"/>
          </a:xfrm>
          <a:prstGeom prst="rect">
            <a:avLst/>
          </a:prstGeom>
        </p:spPr>
      </p:pic>
      <p:pic>
        <p:nvPicPr>
          <p:cNvPr id="61" name="Immagine 60" descr="Immagine che contiene diagramma, testo, cerchio, schermata&#10;&#10;Descrizione generata automaticamente">
            <a:extLst>
              <a:ext uri="{FF2B5EF4-FFF2-40B4-BE49-F238E27FC236}">
                <a16:creationId xmlns:a16="http://schemas.microsoft.com/office/drawing/2014/main" id="{43B18E2B-6394-B624-F983-1C068A2B605F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48" t="5915" r="5257" b="7363"/>
          <a:stretch/>
        </p:blipFill>
        <p:spPr>
          <a:xfrm>
            <a:off x="10169480" y="4545782"/>
            <a:ext cx="3417095" cy="3083524"/>
          </a:xfrm>
          <a:prstGeom prst="rect">
            <a:avLst/>
          </a:prstGeom>
        </p:spPr>
      </p:pic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29CBD381-B0EC-DFB1-A98F-4D5028B63773}"/>
              </a:ext>
            </a:extLst>
          </p:cNvPr>
          <p:cNvSpPr txBox="1"/>
          <p:nvPr/>
        </p:nvSpPr>
        <p:spPr>
          <a:xfrm>
            <a:off x="2566484" y="7874345"/>
            <a:ext cx="1625065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</a:t>
            </a:r>
            <a:r>
              <a:rPr lang="en-GB" sz="3200" b="1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GDP PER CAPITA</a:t>
            </a:r>
            <a:r>
              <a:rPr lang="en-GB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AND </a:t>
            </a:r>
            <a:r>
              <a:rPr lang="en-GB" sz="3200" b="1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CPI</a:t>
            </a:r>
            <a:r>
              <a:rPr lang="en-GB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ACROSS THE CONTINENTS</a:t>
            </a:r>
          </a:p>
        </p:txBody>
      </p:sp>
      <p:sp>
        <p:nvSpPr>
          <p:cNvPr id="1031" name="CasellaDiTesto 1030">
            <a:extLst>
              <a:ext uri="{FF2B5EF4-FFF2-40B4-BE49-F238E27FC236}">
                <a16:creationId xmlns:a16="http://schemas.microsoft.com/office/drawing/2014/main" id="{10EA9470-6823-F865-A612-3BCB43D01D0D}"/>
              </a:ext>
            </a:extLst>
          </p:cNvPr>
          <p:cNvSpPr txBox="1"/>
          <p:nvPr/>
        </p:nvSpPr>
        <p:spPr>
          <a:xfrm>
            <a:off x="13629841" y="13638454"/>
            <a:ext cx="721745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EFFECT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dummy for each continents has an impact on the intercept, while the slope is the same. </a:t>
            </a:r>
          </a:p>
          <a:p>
            <a:pPr algn="just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average effect of one unit increase of CPI on GDP per capita does not depend on the continents.</a:t>
            </a:r>
          </a:p>
        </p:txBody>
      </p:sp>
      <p:sp>
        <p:nvSpPr>
          <p:cNvPr id="1034" name="CasellaDiTesto 1033">
            <a:extLst>
              <a:ext uri="{FF2B5EF4-FFF2-40B4-BE49-F238E27FC236}">
                <a16:creationId xmlns:a16="http://schemas.microsoft.com/office/drawing/2014/main" id="{7F7D6319-BB8C-3BBE-CA88-C457F7E1505D}"/>
              </a:ext>
            </a:extLst>
          </p:cNvPr>
          <p:cNvSpPr txBox="1"/>
          <p:nvPr/>
        </p:nvSpPr>
        <p:spPr>
          <a:xfrm>
            <a:off x="579590" y="17313772"/>
            <a:ext cx="722255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SLOPE EFFECT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dummy for each continents has an impact on the slope, while the intercept is the same. </a:t>
            </a:r>
          </a:p>
          <a:p>
            <a:pPr algn="just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effect on GDP per capita of a one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unit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increase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CPI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does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depend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continents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5" name="CasellaDiTesto 1034">
            <a:extLst>
              <a:ext uri="{FF2B5EF4-FFF2-40B4-BE49-F238E27FC236}">
                <a16:creationId xmlns:a16="http://schemas.microsoft.com/office/drawing/2014/main" id="{70F248A4-4439-564E-E4DE-6267EBFB1311}"/>
              </a:ext>
            </a:extLst>
          </p:cNvPr>
          <p:cNvSpPr txBox="1"/>
          <p:nvPr/>
        </p:nvSpPr>
        <p:spPr>
          <a:xfrm>
            <a:off x="13586575" y="21355070"/>
            <a:ext cx="721745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MIXED EFFECT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different regression lines for continent, where each line is characterized by a different intercept and a different slope.</a:t>
            </a:r>
          </a:p>
        </p:txBody>
      </p: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CC08C8C5-D21A-4A52-DFD3-1DBA79884A0E}"/>
              </a:ext>
            </a:extLst>
          </p:cNvPr>
          <p:cNvCxnSpPr>
            <a:cxnSpLocks/>
          </p:cNvCxnSpPr>
          <p:nvPr/>
        </p:nvCxnSpPr>
        <p:spPr>
          <a:xfrm flipV="1">
            <a:off x="1844491" y="14102626"/>
            <a:ext cx="0" cy="1092370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asellaDiTesto 47">
                <a:extLst>
                  <a:ext uri="{FF2B5EF4-FFF2-40B4-BE49-F238E27FC236}">
                    <a16:creationId xmlns:a16="http://schemas.microsoft.com/office/drawing/2014/main" id="{9774CF1F-69C6-7FF1-59A2-70C7B4645F3B}"/>
                  </a:ext>
                </a:extLst>
              </p:cNvPr>
              <p:cNvSpPr txBox="1"/>
              <p:nvPr/>
            </p:nvSpPr>
            <p:spPr>
              <a:xfrm>
                <a:off x="1520583" y="13680679"/>
                <a:ext cx="1792286" cy="3545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it-I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8" name="CasellaDiTesto 47">
                <a:extLst>
                  <a:ext uri="{FF2B5EF4-FFF2-40B4-BE49-F238E27FC236}">
                    <a16:creationId xmlns:a16="http://schemas.microsoft.com/office/drawing/2014/main" id="{9774CF1F-69C6-7FF1-59A2-70C7B4645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0583" y="13680679"/>
                <a:ext cx="1792286" cy="354584"/>
              </a:xfrm>
              <a:prstGeom prst="rect">
                <a:avLst/>
              </a:prstGeom>
              <a:blipFill>
                <a:blip r:embed="rId14"/>
                <a:stretch>
                  <a:fillRect r="-1020" b="-241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Connettore 2 49">
            <a:extLst>
              <a:ext uri="{FF2B5EF4-FFF2-40B4-BE49-F238E27FC236}">
                <a16:creationId xmlns:a16="http://schemas.microsoft.com/office/drawing/2014/main" id="{0D02471A-15AA-D535-EFB1-51D29AAC9268}"/>
              </a:ext>
            </a:extLst>
          </p:cNvPr>
          <p:cNvCxnSpPr>
            <a:cxnSpLocks/>
          </p:cNvCxnSpPr>
          <p:nvPr/>
        </p:nvCxnSpPr>
        <p:spPr>
          <a:xfrm>
            <a:off x="6516379" y="14426859"/>
            <a:ext cx="0" cy="80848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asellaDiTesto 52">
                <a:extLst>
                  <a:ext uri="{FF2B5EF4-FFF2-40B4-BE49-F238E27FC236}">
                    <a16:creationId xmlns:a16="http://schemas.microsoft.com/office/drawing/2014/main" id="{3A58E239-49A8-32B8-3BB1-C5EC1280523A}"/>
                  </a:ext>
                </a:extLst>
              </p:cNvPr>
              <p:cNvSpPr txBox="1"/>
              <p:nvPr/>
            </p:nvSpPr>
            <p:spPr>
              <a:xfrm>
                <a:off x="5917051" y="15247987"/>
                <a:ext cx="119865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it-I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3" name="CasellaDiTesto 52">
                <a:extLst>
                  <a:ext uri="{FF2B5EF4-FFF2-40B4-BE49-F238E27FC236}">
                    <a16:creationId xmlns:a16="http://schemas.microsoft.com/office/drawing/2014/main" id="{3A58E239-49A8-32B8-3BB1-C5EC12805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7051" y="15247987"/>
                <a:ext cx="1198655" cy="400110"/>
              </a:xfrm>
              <a:prstGeom prst="rect">
                <a:avLst/>
              </a:prstGeom>
              <a:blipFill>
                <a:blip r:embed="rId15"/>
                <a:stretch>
                  <a:fillRect b="-1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A862A8C5-9258-AE9D-B248-96E98BB1482A}"/>
              </a:ext>
            </a:extLst>
          </p:cNvPr>
          <p:cNvCxnSpPr>
            <a:cxnSpLocks/>
          </p:cNvCxnSpPr>
          <p:nvPr/>
        </p:nvCxnSpPr>
        <p:spPr>
          <a:xfrm>
            <a:off x="19960111" y="18630211"/>
            <a:ext cx="0" cy="80848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asellaDiTesto 55">
                <a:extLst>
                  <a:ext uri="{FF2B5EF4-FFF2-40B4-BE49-F238E27FC236}">
                    <a16:creationId xmlns:a16="http://schemas.microsoft.com/office/drawing/2014/main" id="{FB685DA0-67F5-60F3-C37A-ABACC8938C88}"/>
                  </a:ext>
                </a:extLst>
              </p:cNvPr>
              <p:cNvSpPr txBox="1"/>
              <p:nvPr/>
            </p:nvSpPr>
            <p:spPr>
              <a:xfrm>
                <a:off x="19360783" y="19491683"/>
                <a:ext cx="119865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it-I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6" name="CasellaDiTesto 55">
                <a:extLst>
                  <a:ext uri="{FF2B5EF4-FFF2-40B4-BE49-F238E27FC236}">
                    <a16:creationId xmlns:a16="http://schemas.microsoft.com/office/drawing/2014/main" id="{FB685DA0-67F5-60F3-C37A-ABACC8938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0783" y="19491683"/>
                <a:ext cx="1198655" cy="400110"/>
              </a:xfrm>
              <a:prstGeom prst="rect">
                <a:avLst/>
              </a:prstGeom>
              <a:blipFill>
                <a:blip r:embed="rId16"/>
                <a:stretch>
                  <a:fillRect b="-1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Connettore 2 56">
            <a:extLst>
              <a:ext uri="{FF2B5EF4-FFF2-40B4-BE49-F238E27FC236}">
                <a16:creationId xmlns:a16="http://schemas.microsoft.com/office/drawing/2014/main" id="{675B93A6-87D4-3AE1-5B1B-A41F94A5E0A2}"/>
              </a:ext>
            </a:extLst>
          </p:cNvPr>
          <p:cNvCxnSpPr>
            <a:cxnSpLocks/>
          </p:cNvCxnSpPr>
          <p:nvPr/>
        </p:nvCxnSpPr>
        <p:spPr>
          <a:xfrm flipV="1">
            <a:off x="14987403" y="17859254"/>
            <a:ext cx="0" cy="1092370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CasellaDiTesto 57">
                <a:extLst>
                  <a:ext uri="{FF2B5EF4-FFF2-40B4-BE49-F238E27FC236}">
                    <a16:creationId xmlns:a16="http://schemas.microsoft.com/office/drawing/2014/main" id="{0F5036F5-F6EC-FD17-1B5A-8CF1A277CEE0}"/>
                  </a:ext>
                </a:extLst>
              </p:cNvPr>
              <p:cNvSpPr txBox="1"/>
              <p:nvPr/>
            </p:nvSpPr>
            <p:spPr>
              <a:xfrm>
                <a:off x="14695408" y="17468194"/>
                <a:ext cx="1659429" cy="3324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it-I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it-I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8" name="CasellaDiTesto 57">
                <a:extLst>
                  <a:ext uri="{FF2B5EF4-FFF2-40B4-BE49-F238E27FC236}">
                    <a16:creationId xmlns:a16="http://schemas.microsoft.com/office/drawing/2014/main" id="{0F5036F5-F6EC-FD17-1B5A-8CF1A277C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5408" y="17468194"/>
                <a:ext cx="1659429" cy="332463"/>
              </a:xfrm>
              <a:prstGeom prst="rect">
                <a:avLst/>
              </a:prstGeom>
              <a:blipFill>
                <a:blip r:embed="rId17"/>
                <a:stretch>
                  <a:fillRect l="-5147" t="-1852" r="-1103" b="-277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Connettore 2 58">
            <a:extLst>
              <a:ext uri="{FF2B5EF4-FFF2-40B4-BE49-F238E27FC236}">
                <a16:creationId xmlns:a16="http://schemas.microsoft.com/office/drawing/2014/main" id="{D0401973-9AC5-6544-5AAE-8CCD7EF8DBFC}"/>
              </a:ext>
            </a:extLst>
          </p:cNvPr>
          <p:cNvCxnSpPr>
            <a:cxnSpLocks/>
          </p:cNvCxnSpPr>
          <p:nvPr/>
        </p:nvCxnSpPr>
        <p:spPr>
          <a:xfrm>
            <a:off x="6661501" y="21971616"/>
            <a:ext cx="0" cy="1258824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CasellaDiTesto 59">
                <a:extLst>
                  <a:ext uri="{FF2B5EF4-FFF2-40B4-BE49-F238E27FC236}">
                    <a16:creationId xmlns:a16="http://schemas.microsoft.com/office/drawing/2014/main" id="{C6D668C5-C245-14EC-99CF-0B2E5BD2767D}"/>
                  </a:ext>
                </a:extLst>
              </p:cNvPr>
              <p:cNvSpPr txBox="1"/>
              <p:nvPr/>
            </p:nvSpPr>
            <p:spPr>
              <a:xfrm>
                <a:off x="6062173" y="23251436"/>
                <a:ext cx="119865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it-I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0" name="CasellaDiTesto 59">
                <a:extLst>
                  <a:ext uri="{FF2B5EF4-FFF2-40B4-BE49-F238E27FC236}">
                    <a16:creationId xmlns:a16="http://schemas.microsoft.com/office/drawing/2014/main" id="{C6D668C5-C245-14EC-99CF-0B2E5BD27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2173" y="23251436"/>
                <a:ext cx="1198655" cy="400110"/>
              </a:xfrm>
              <a:prstGeom prst="rect">
                <a:avLst/>
              </a:prstGeom>
              <a:blipFill>
                <a:blip r:embed="rId18"/>
                <a:stretch>
                  <a:fillRect b="-1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4" name="Connettore 2 1023">
            <a:extLst>
              <a:ext uri="{FF2B5EF4-FFF2-40B4-BE49-F238E27FC236}">
                <a16:creationId xmlns:a16="http://schemas.microsoft.com/office/drawing/2014/main" id="{6284DA64-4162-24D1-0163-7EBC20316E26}"/>
              </a:ext>
            </a:extLst>
          </p:cNvPr>
          <p:cNvCxnSpPr>
            <a:cxnSpLocks/>
          </p:cNvCxnSpPr>
          <p:nvPr/>
        </p:nvCxnSpPr>
        <p:spPr>
          <a:xfrm flipV="1">
            <a:off x="1920258" y="21527849"/>
            <a:ext cx="0" cy="730601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0" name="CasellaDiTesto 1029">
                <a:extLst>
                  <a:ext uri="{FF2B5EF4-FFF2-40B4-BE49-F238E27FC236}">
                    <a16:creationId xmlns:a16="http://schemas.microsoft.com/office/drawing/2014/main" id="{9B25D8C8-AD92-8EA3-BFE9-4118733357C2}"/>
                  </a:ext>
                </a:extLst>
              </p:cNvPr>
              <p:cNvSpPr txBox="1"/>
              <p:nvPr/>
            </p:nvSpPr>
            <p:spPr>
              <a:xfrm>
                <a:off x="1584722" y="21069624"/>
                <a:ext cx="2431884" cy="3545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it-I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it-I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030" name="CasellaDiTesto 1029">
                <a:extLst>
                  <a:ext uri="{FF2B5EF4-FFF2-40B4-BE49-F238E27FC236}">
                    <a16:creationId xmlns:a16="http://schemas.microsoft.com/office/drawing/2014/main" id="{9B25D8C8-AD92-8EA3-BFE9-411873335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722" y="21069624"/>
                <a:ext cx="2431884" cy="354584"/>
              </a:xfrm>
              <a:prstGeom prst="rect">
                <a:avLst/>
              </a:prstGeom>
              <a:blipFill>
                <a:blip r:embed="rId19"/>
                <a:stretch>
                  <a:fillRect r="-501" b="-241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8" name="CasellaDiTesto 1037">
            <a:extLst>
              <a:ext uri="{FF2B5EF4-FFF2-40B4-BE49-F238E27FC236}">
                <a16:creationId xmlns:a16="http://schemas.microsoft.com/office/drawing/2014/main" id="{18D1A25E-428F-DBF9-D450-E7E14610CADC}"/>
              </a:ext>
            </a:extLst>
          </p:cNvPr>
          <p:cNvSpPr txBox="1"/>
          <p:nvPr/>
        </p:nvSpPr>
        <p:spPr>
          <a:xfrm>
            <a:off x="923323" y="24817573"/>
            <a:ext cx="5171887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it-IT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it-IT" sz="3200" b="1" spc="3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DIAGNOSTIC</a:t>
            </a:r>
            <a:r>
              <a:rPr lang="en-GB" sz="3200" b="1" spc="3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040" name="Immagine 1039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C164D353-D850-E611-2DE3-EA6591A0302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974" y="13417176"/>
            <a:ext cx="4524519" cy="3222000"/>
          </a:xfrm>
          <a:prstGeom prst="rect">
            <a:avLst/>
          </a:prstGeom>
        </p:spPr>
      </p:pic>
      <p:pic>
        <p:nvPicPr>
          <p:cNvPr id="1044" name="Immagine 1043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3B9B5387-2979-9CA3-E628-E7E4237F658C}"/>
              </a:ext>
            </a:extLst>
          </p:cNvPr>
          <p:cNvPicPr>
            <a:picLocks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974" y="16885662"/>
            <a:ext cx="4525200" cy="3223539"/>
          </a:xfrm>
          <a:prstGeom prst="rect">
            <a:avLst/>
          </a:prstGeom>
        </p:spPr>
      </p:pic>
      <p:pic>
        <p:nvPicPr>
          <p:cNvPr id="1047" name="Immagine 1046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3F647EC8-C576-5712-5FED-B861B2B017E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8010" y="20381519"/>
            <a:ext cx="4531456" cy="4505034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78D61972-7DAA-0DEA-F6B4-0E2601B17629}"/>
              </a:ext>
            </a:extLst>
          </p:cNvPr>
          <p:cNvSpPr txBox="1"/>
          <p:nvPr/>
        </p:nvSpPr>
        <p:spPr>
          <a:xfrm>
            <a:off x="4404768" y="26003061"/>
            <a:ext cx="271093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VIF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TOL are computed for detecting e</a:t>
            </a:r>
            <a:r>
              <a:rPr lang="en-GB" sz="2800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ventual issue of</a:t>
            </a:r>
            <a:r>
              <a:rPr lang="en-GB" sz="28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multicollinearity.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0B14EE9-7F2E-B71C-D50D-B6BA314C204A}"/>
              </a:ext>
            </a:extLst>
          </p:cNvPr>
          <p:cNvSpPr txBox="1"/>
          <p:nvPr/>
        </p:nvSpPr>
        <p:spPr>
          <a:xfrm>
            <a:off x="14910955" y="25637450"/>
            <a:ext cx="58930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it-I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it-I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demonstrate</a:t>
            </a:r>
            <a:r>
              <a:rPr lang="it-I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it-I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it-I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Slope</a:t>
            </a:r>
            <a:r>
              <a:rPr lang="it-IT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Effect</a:t>
            </a:r>
            <a:r>
              <a:rPr lang="it-IT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statistically</a:t>
            </a:r>
            <a:r>
              <a:rPr lang="it-I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significant</a:t>
            </a:r>
            <a:r>
              <a:rPr lang="it-I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it-IT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lang="it-I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data.</a:t>
            </a:r>
          </a:p>
          <a:p>
            <a:pPr algn="r"/>
            <a:r>
              <a:rPr lang="it-I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r>
              <a:rPr lang="it-I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effect on GDP per capita of a one </a:t>
            </a:r>
            <a:r>
              <a:rPr lang="it-IT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unit</a:t>
            </a:r>
            <a:r>
              <a:rPr lang="it-I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increase</a:t>
            </a:r>
            <a:r>
              <a:rPr lang="it-I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CPI </a:t>
            </a:r>
            <a:r>
              <a:rPr lang="it-IT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does</a:t>
            </a:r>
            <a:r>
              <a:rPr lang="it-I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depend</a:t>
            </a:r>
            <a:r>
              <a:rPr lang="it-I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it-IT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continents</a:t>
            </a:r>
            <a:r>
              <a:rPr lang="it-I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8488D02D-A4A7-0670-CB09-C299D8FF8E8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115706" y="26011036"/>
            <a:ext cx="5160257" cy="3004388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5DF8C83-4C34-BAF6-686A-5A6AD7CABD79}"/>
              </a:ext>
            </a:extLst>
          </p:cNvPr>
          <p:cNvSpPr txBox="1"/>
          <p:nvPr/>
        </p:nvSpPr>
        <p:spPr>
          <a:xfrm>
            <a:off x="12442679" y="26218505"/>
            <a:ext cx="179874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some high leverage points and outliers.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78DBFD9-EA80-24EE-37B3-1277ACE73BE4}"/>
              </a:ext>
            </a:extLst>
          </p:cNvPr>
          <p:cNvSpPr txBox="1"/>
          <p:nvPr/>
        </p:nvSpPr>
        <p:spPr>
          <a:xfrm>
            <a:off x="16448354" y="24761780"/>
            <a:ext cx="43556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48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GB" sz="48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egnaposto piè di pagina 18">
            <a:extLst>
              <a:ext uri="{FF2B5EF4-FFF2-40B4-BE49-F238E27FC236}">
                <a16:creationId xmlns:a16="http://schemas.microsoft.com/office/drawing/2014/main" id="{A9FF1E99-5219-685C-7030-4F293FDDA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29345089"/>
            <a:ext cx="7216973" cy="877035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Isabella Cappiello, Marie </a:t>
            </a:r>
            <a:r>
              <a:rPr lang="it-IT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Doka</a:t>
            </a:r>
            <a:r>
              <a:rPr lang="it-I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Martina </a:t>
            </a:r>
            <a:r>
              <a:rPr lang="it-IT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Pagan</a:t>
            </a:r>
            <a:endParaRPr lang="en-GB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E8287318-60D2-1057-4C9A-616C7ACE49B1}"/>
              </a:ext>
            </a:extLst>
          </p:cNvPr>
          <p:cNvSpPr txBox="1"/>
          <p:nvPr/>
        </p:nvSpPr>
        <p:spPr>
          <a:xfrm>
            <a:off x="13150272" y="29521996"/>
            <a:ext cx="80188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 Learning, Prof. Monica </a:t>
            </a:r>
            <a:r>
              <a:rPr lang="it-IT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Manisera</a:t>
            </a:r>
            <a:r>
              <a:rPr lang="it-IT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2023/24</a:t>
            </a:r>
            <a:endParaRPr lang="en-GB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magine 16" descr="Immagine che contiene testo, schermata, Policromia&#10;&#10;Descrizione generata automaticamente">
            <a:extLst>
              <a:ext uri="{FF2B5EF4-FFF2-40B4-BE49-F238E27FC236}">
                <a16:creationId xmlns:a16="http://schemas.microsoft.com/office/drawing/2014/main" id="{884AAFC9-996F-DFFB-BA7C-4B8A84328BE9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20" t="5378" r="13246" b="8075"/>
          <a:stretch/>
        </p:blipFill>
        <p:spPr>
          <a:xfrm>
            <a:off x="19330540" y="4732335"/>
            <a:ext cx="1657847" cy="2509026"/>
          </a:xfrm>
          <a:prstGeom prst="rect">
            <a:avLst/>
          </a:prstGeom>
        </p:spPr>
      </p:pic>
      <p:pic>
        <p:nvPicPr>
          <p:cNvPr id="15" name="Immagine 14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D97A57FC-00C6-C626-5B20-860C28BB737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85" y="25444846"/>
            <a:ext cx="3212798" cy="36168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84BC98F1-9397-2BA3-6206-5056E00C050E}"/>
                  </a:ext>
                </a:extLst>
              </p:cNvPr>
              <p:cNvSpPr txBox="1"/>
              <p:nvPr/>
            </p:nvSpPr>
            <p:spPr>
              <a:xfrm>
                <a:off x="13051143" y="16033498"/>
                <a:ext cx="616696" cy="276999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1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it-IT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it-IT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it-IT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it-IT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𝐴𝑑𝑗</m:t>
                      </m:r>
                    </m:oMath>
                  </m:oMathPara>
                </a14:m>
                <a:endParaRPr lang="it-IT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84BC98F1-9397-2BA3-6206-5056E00C0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1143" y="16033498"/>
                <a:ext cx="616696" cy="276999"/>
              </a:xfrm>
              <a:prstGeom prst="rect">
                <a:avLst/>
              </a:prstGeom>
              <a:blipFill>
                <a:blip r:embed="rId26"/>
                <a:stretch>
                  <a:fillRect b="-4167"/>
                </a:stretch>
              </a:blipFill>
              <a:ln>
                <a:solidFill>
                  <a:schemeClr val="bg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6696967F-8600-007E-4441-6927A09FD19A}"/>
              </a:ext>
            </a:extLst>
          </p:cNvPr>
          <p:cNvSpPr txBox="1"/>
          <p:nvPr/>
        </p:nvSpPr>
        <p:spPr>
          <a:xfrm>
            <a:off x="13048445" y="16314741"/>
            <a:ext cx="616696" cy="27699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0.7749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sellaDiTesto 31">
                <a:extLst>
                  <a:ext uri="{FF2B5EF4-FFF2-40B4-BE49-F238E27FC236}">
                    <a16:creationId xmlns:a16="http://schemas.microsoft.com/office/drawing/2014/main" id="{274B56E2-83C7-ED96-52E3-5CB249C44ED2}"/>
                  </a:ext>
                </a:extLst>
              </p:cNvPr>
              <p:cNvSpPr txBox="1"/>
              <p:nvPr/>
            </p:nvSpPr>
            <p:spPr>
              <a:xfrm>
                <a:off x="13027830" y="19500133"/>
                <a:ext cx="628444" cy="276999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1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it-IT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it-IT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it-IT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it-IT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𝐴𝑑𝑗</m:t>
                      </m:r>
                    </m:oMath>
                  </m:oMathPara>
                </a14:m>
                <a:endParaRPr lang="it-IT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CasellaDiTesto 31">
                <a:extLst>
                  <a:ext uri="{FF2B5EF4-FFF2-40B4-BE49-F238E27FC236}">
                    <a16:creationId xmlns:a16="http://schemas.microsoft.com/office/drawing/2014/main" id="{274B56E2-83C7-ED96-52E3-5CB249C44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27830" y="19500133"/>
                <a:ext cx="628444" cy="276999"/>
              </a:xfrm>
              <a:prstGeom prst="rect">
                <a:avLst/>
              </a:prstGeom>
              <a:blipFill>
                <a:blip r:embed="rId27"/>
                <a:stretch>
                  <a:fillRect b="-4255"/>
                </a:stretch>
              </a:blipFill>
              <a:ln>
                <a:solidFill>
                  <a:schemeClr val="bg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971918EB-EC75-48C6-E10F-19CB7FE0F82A}"/>
              </a:ext>
            </a:extLst>
          </p:cNvPr>
          <p:cNvSpPr txBox="1"/>
          <p:nvPr/>
        </p:nvSpPr>
        <p:spPr>
          <a:xfrm>
            <a:off x="13027830" y="19777841"/>
            <a:ext cx="628444" cy="27699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0.767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A3167422-4192-6027-0A32-631F7E43690E}"/>
              </a:ext>
            </a:extLst>
          </p:cNvPr>
          <p:cNvSpPr txBox="1"/>
          <p:nvPr/>
        </p:nvSpPr>
        <p:spPr>
          <a:xfrm>
            <a:off x="13050871" y="24502262"/>
            <a:ext cx="628444" cy="27699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0.7754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sellaDiTesto 35">
                <a:extLst>
                  <a:ext uri="{FF2B5EF4-FFF2-40B4-BE49-F238E27FC236}">
                    <a16:creationId xmlns:a16="http://schemas.microsoft.com/office/drawing/2014/main" id="{6B43D397-ED65-1FD1-7212-EFF62EBAED40}"/>
                  </a:ext>
                </a:extLst>
              </p:cNvPr>
              <p:cNvSpPr txBox="1"/>
              <p:nvPr/>
            </p:nvSpPr>
            <p:spPr>
              <a:xfrm>
                <a:off x="13050871" y="24225778"/>
                <a:ext cx="628444" cy="276999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1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it-IT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it-IT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it-IT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it-IT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𝐴𝑑𝑗</m:t>
                      </m:r>
                    </m:oMath>
                  </m:oMathPara>
                </a14:m>
                <a:endParaRPr lang="it-IT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CasellaDiTesto 35">
                <a:extLst>
                  <a:ext uri="{FF2B5EF4-FFF2-40B4-BE49-F238E27FC236}">
                    <a16:creationId xmlns:a16="http://schemas.microsoft.com/office/drawing/2014/main" id="{6B43D397-ED65-1FD1-7212-EFF62EBAE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0871" y="24225778"/>
                <a:ext cx="628444" cy="276999"/>
              </a:xfrm>
              <a:prstGeom prst="rect">
                <a:avLst/>
              </a:prstGeom>
              <a:blipFill>
                <a:blip r:embed="rId28"/>
                <a:stretch>
                  <a:fillRect b="-6383"/>
                </a:stretch>
              </a:blipFill>
              <a:ln>
                <a:solidFill>
                  <a:schemeClr val="bg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50083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338</Words>
  <Application>Microsoft Office PowerPoint</Application>
  <PresentationFormat>Personalizzato</PresentationFormat>
  <Paragraphs>36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Roboto</vt:lpstr>
      <vt:lpstr>Times New Roman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Martina Pagan</dc:creator>
  <cp:lastModifiedBy>martina pagan</cp:lastModifiedBy>
  <cp:revision>56</cp:revision>
  <dcterms:created xsi:type="dcterms:W3CDTF">2024-02-12T22:19:15Z</dcterms:created>
  <dcterms:modified xsi:type="dcterms:W3CDTF">2024-06-18T12:16:21Z</dcterms:modified>
</cp:coreProperties>
</file>